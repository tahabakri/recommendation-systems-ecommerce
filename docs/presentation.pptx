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Poppins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  <p:embeddedFont>
      <p:font typeface="Poppins SemiBold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Italic.fntdata"/><Relationship Id="rId22" Type="http://schemas.openxmlformats.org/officeDocument/2006/relationships/font" Target="fonts/Lato-bold.fntdata"/><Relationship Id="rId21" Type="http://schemas.openxmlformats.org/officeDocument/2006/relationships/font" Target="fonts/Lato-regular.fntdata"/><Relationship Id="rId24" Type="http://schemas.openxmlformats.org/officeDocument/2006/relationships/font" Target="fonts/Lato-boldItalic.fntdata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SemiBold-bold.fntdata"/><Relationship Id="rId25" Type="http://schemas.openxmlformats.org/officeDocument/2006/relationships/font" Target="fonts/PoppinsSemiBold-regular.fntdata"/><Relationship Id="rId28" Type="http://schemas.openxmlformats.org/officeDocument/2006/relationships/font" Target="fonts/PoppinsSemiBold-boldItalic.fntdata"/><Relationship Id="rId27" Type="http://schemas.openxmlformats.org/officeDocument/2006/relationships/font" Target="fonts/Poppins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oppins-regular.fntdata"/><Relationship Id="rId16" Type="http://schemas.openxmlformats.org/officeDocument/2006/relationships/slide" Target="slides/slide11.xml"/><Relationship Id="rId19" Type="http://schemas.openxmlformats.org/officeDocument/2006/relationships/font" Target="fonts/Poppins-italic.fntdata"/><Relationship Id="rId18" Type="http://schemas.openxmlformats.org/officeDocument/2006/relationships/font" Target="fonts/Poppi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14.png"/><Relationship Id="rId8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10" Type="http://schemas.openxmlformats.org/officeDocument/2006/relationships/image" Target="../media/image18.png"/><Relationship Id="rId9" Type="http://schemas.openxmlformats.org/officeDocument/2006/relationships/image" Target="../media/image24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10" Type="http://schemas.openxmlformats.org/officeDocument/2006/relationships/image" Target="../media/image19.png"/><Relationship Id="rId9" Type="http://schemas.openxmlformats.org/officeDocument/2006/relationships/image" Target="../media/image29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10" Type="http://schemas.openxmlformats.org/officeDocument/2006/relationships/image" Target="../media/image23.png"/><Relationship Id="rId9" Type="http://schemas.openxmlformats.org/officeDocument/2006/relationships/image" Target="../media/image27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10" Type="http://schemas.openxmlformats.org/officeDocument/2006/relationships/image" Target="../media/image17.png"/><Relationship Id="rId9" Type="http://schemas.openxmlformats.org/officeDocument/2006/relationships/image" Target="../media/image26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25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31.png"/><Relationship Id="rId8" Type="http://schemas.openxmlformats.org/officeDocument/2006/relationships/image" Target="../media/image2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10" Type="http://schemas.openxmlformats.org/officeDocument/2006/relationships/image" Target="../media/image30.png"/><Relationship Id="rId9" Type="http://schemas.openxmlformats.org/officeDocument/2006/relationships/image" Target="../media/image15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531965"/>
            <a:ext cx="10668000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352800" y="3960465"/>
            <a:ext cx="30289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Student: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 Taha Hamza (Group 108358-1)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6667500" y="3960465"/>
            <a:ext cx="21717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Lecturer: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 Dali magrakvelidze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090612" y="4627215"/>
            <a:ext cx="10196512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854D0E"/>
                </a:solidFill>
                <a:latin typeface="Poppins"/>
                <a:ea typeface="Poppins"/>
                <a:cs typeface="Poppins"/>
                <a:sym typeface="Poppins"/>
              </a:rPr>
              <a:t>READ OUT LOUD: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952500" y="4817715"/>
            <a:ext cx="10334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Hello everyone. Today I will talk about recommendation systems in e-commerce. Thank you for coming.</a:t>
            </a:r>
            <a:endParaRPr/>
          </a:p>
        </p:txBody>
      </p:sp>
      <p:pic>
        <p:nvPicPr>
          <p:cNvPr descr="image.png" id="90" name="Google Shape;9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4655790"/>
            <a:ext cx="80962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4626768" y="1649759"/>
            <a:ext cx="29384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GEORGIAN TECHNICAL UNIVERSITY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2325528" y="2011709"/>
            <a:ext cx="7540942" cy="1234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Recommendation Systems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in </a:t>
            </a:r>
            <a:r>
              <a:rPr b="1" i="0" lang="en-US" sz="405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E-commerce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4243387" y="3388965"/>
            <a:ext cx="37052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Personalizing the online shopping experience.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437358"/>
            <a:ext cx="5095875" cy="1908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895975"/>
            <a:ext cx="10668000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1090612" y="5991225"/>
            <a:ext cx="10196512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854D0E"/>
                </a:solidFill>
                <a:latin typeface="Poppins"/>
                <a:ea typeface="Poppins"/>
                <a:cs typeface="Poppins"/>
                <a:sym typeface="Poppins"/>
              </a:rPr>
              <a:t>READ OUT LOUD: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52500" y="6181725"/>
            <a:ext cx="10334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Online shops have millions of items. Customers feel lost. Recommendations help them find things fast.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6019800"/>
            <a:ext cx="80962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762000" y="2437358"/>
            <a:ext cx="50958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E-commerce sites sell millions of items. This causes problems for buyers: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910512" y="2762994"/>
            <a:ext cx="1943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35%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953250" y="3772644"/>
            <a:ext cx="38576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of Amazon's sales are from recommendations.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143000" y="3085058"/>
            <a:ext cx="47148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Too many choices.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143000" y="3568898"/>
            <a:ext cx="47148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Hard to search.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143000" y="4052738"/>
            <a:ext cx="47148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Customers leave angry.</a:t>
            </a:r>
            <a:endParaRPr/>
          </a:p>
        </p:txBody>
      </p:sp>
      <p:pic>
        <p:nvPicPr>
          <p:cNvPr descr="image.png" id="110" name="Google Shape;11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3137445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362128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4105126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904875" y="476250"/>
            <a:ext cx="11051381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The Problem: Choice Overload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762000" y="476250"/>
            <a:ext cx="47625" cy="411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63042"/>
            <a:ext cx="509587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895975"/>
            <a:ext cx="10668000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1090612" y="5991225"/>
            <a:ext cx="10196512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854D0E"/>
                </a:solidFill>
                <a:latin typeface="Poppins"/>
                <a:ea typeface="Poppins"/>
                <a:cs typeface="Poppins"/>
                <a:sym typeface="Poppins"/>
              </a:rPr>
              <a:t>READ OUT LOUD: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952500" y="6181725"/>
            <a:ext cx="10334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It is a software program that acts like a shopping assistant. It predicts what you like.</a:t>
            </a:r>
            <a:endParaRPr/>
          </a:p>
        </p:txBody>
      </p:sp>
      <p:pic>
        <p:nvPicPr>
          <p:cNvPr descr="image.png" id="124" name="Google Shape;12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6019800"/>
            <a:ext cx="80962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762000" y="4012703"/>
            <a:ext cx="50958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Example: Amazon "Customers also bought" lists.</a:t>
            </a:r>
            <a:endParaRPr/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43650" y="1972567"/>
            <a:ext cx="5076825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1143000" y="2513558"/>
            <a:ext cx="47148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smart shopping helper.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1143000" y="2997398"/>
            <a:ext cx="47148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It predicts your favorites.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1143000" y="3481238"/>
            <a:ext cx="47148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Saves you search time.</a:t>
            </a:r>
            <a:endParaRPr/>
          </a:p>
        </p:txBody>
      </p:sp>
      <p:pic>
        <p:nvPicPr>
          <p:cNvPr descr="image.png" id="130" name="Google Shape;13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2565945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304978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3533626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904875" y="476250"/>
            <a:ext cx="11051381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What is a Recommendation System?</a:t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762000" y="476250"/>
            <a:ext cx="47625" cy="411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63042"/>
            <a:ext cx="509587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895975"/>
            <a:ext cx="10668000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1090612" y="5991225"/>
            <a:ext cx="10196512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854D0E"/>
                </a:solidFill>
                <a:latin typeface="Poppins"/>
                <a:ea typeface="Poppins"/>
                <a:cs typeface="Poppins"/>
                <a:sym typeface="Poppins"/>
              </a:rPr>
              <a:t>READ OUT LOUD: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952500" y="6181725"/>
            <a:ext cx="10334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The system tracks your clicks. It checks product prices. Then, it shows you a custom list.</a:t>
            </a:r>
            <a:endParaRPr/>
          </a:p>
        </p:txBody>
      </p:sp>
      <p:pic>
        <p:nvPicPr>
          <p:cNvPr descr="image.png" id="144" name="Google Shape;14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6019800"/>
            <a:ext cx="80962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43650" y="1972567"/>
            <a:ext cx="5076825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1143000" y="2761208"/>
            <a:ext cx="47148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Collects your clicks.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1143000" y="3245048"/>
            <a:ext cx="47148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Searches product database.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1143000" y="3728888"/>
            <a:ext cx="47148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Creates customized list.</a:t>
            </a:r>
            <a:endParaRPr/>
          </a:p>
        </p:txBody>
      </p:sp>
      <p:pic>
        <p:nvPicPr>
          <p:cNvPr descr="image.png" id="149" name="Google Shape;14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2813595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329743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3781276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904875" y="476250"/>
            <a:ext cx="11051381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How It Works</a:t>
            </a: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762000" y="476250"/>
            <a:ext cx="47625" cy="411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63042"/>
            <a:ext cx="509587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895975"/>
            <a:ext cx="10668000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1090612" y="5991225"/>
            <a:ext cx="10196512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854D0E"/>
                </a:solidFill>
                <a:latin typeface="Poppins"/>
                <a:ea typeface="Poppins"/>
                <a:cs typeface="Poppins"/>
                <a:sym typeface="Poppins"/>
              </a:rPr>
              <a:t>READ OUT LOUD: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952500" y="6181725"/>
            <a:ext cx="10334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This type suggests items similar to what you liked before. It only looks at product details.</a:t>
            </a:r>
            <a:endParaRPr/>
          </a:p>
        </p:txBody>
      </p:sp>
      <p:pic>
        <p:nvPicPr>
          <p:cNvPr descr="image.png" id="163" name="Google Shape;16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6019800"/>
            <a:ext cx="80962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43650" y="1972567"/>
            <a:ext cx="5076825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1143000" y="2761208"/>
            <a:ext cx="47148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Looks at product details.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1143000" y="3245048"/>
            <a:ext cx="47148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Suggests very similar items.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1143000" y="3728888"/>
            <a:ext cx="47148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Example: Mystery suggests mystery.</a:t>
            </a:r>
            <a:endParaRPr/>
          </a:p>
        </p:txBody>
      </p:sp>
      <p:pic>
        <p:nvPicPr>
          <p:cNvPr descr="image.png" id="168" name="Google Shape;16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281359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329743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3781276"/>
            <a:ext cx="2381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7"/>
          <p:cNvSpPr txBox="1"/>
          <p:nvPr/>
        </p:nvSpPr>
        <p:spPr>
          <a:xfrm>
            <a:off x="904875" y="476250"/>
            <a:ext cx="11051381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Type 1: Content-Based Filtering</a:t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762000" y="476250"/>
            <a:ext cx="47625" cy="411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63042"/>
            <a:ext cx="509587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895975"/>
            <a:ext cx="10668000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1090612" y="5991225"/>
            <a:ext cx="10196512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854D0E"/>
                </a:solidFill>
                <a:latin typeface="Poppins"/>
                <a:ea typeface="Poppins"/>
                <a:cs typeface="Poppins"/>
                <a:sym typeface="Poppins"/>
              </a:rPr>
              <a:t>READ OUT LOUD: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952500" y="6181725"/>
            <a:ext cx="10334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This method finds other users with similar tastes. It suggests what they bought.</a:t>
            </a:r>
            <a:endParaRPr/>
          </a:p>
        </p:txBody>
      </p:sp>
      <p:pic>
        <p:nvPicPr>
          <p:cNvPr descr="image.png" id="182" name="Google Shape;18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6019800"/>
            <a:ext cx="80962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43650" y="1972567"/>
            <a:ext cx="5076825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1143000" y="2761208"/>
            <a:ext cx="47148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Looks at other people.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1143000" y="3245048"/>
            <a:ext cx="47148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Finds similar shoppers.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1143000" y="3728888"/>
            <a:ext cx="47148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Recommends their purchases.</a:t>
            </a:r>
            <a:endParaRPr/>
          </a:p>
        </p:txBody>
      </p:sp>
      <p:pic>
        <p:nvPicPr>
          <p:cNvPr descr="image.png" id="187" name="Google Shape;187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2813595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329743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3781276"/>
            <a:ext cx="2381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8"/>
          <p:cNvSpPr txBox="1"/>
          <p:nvPr/>
        </p:nvSpPr>
        <p:spPr>
          <a:xfrm>
            <a:off x="904875" y="476250"/>
            <a:ext cx="11051381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Type 2: Collaborative Filtering</a:t>
            </a:r>
            <a:endParaRPr/>
          </a:p>
        </p:txBody>
      </p:sp>
      <p:sp>
        <p:nvSpPr>
          <p:cNvPr id="191" name="Google Shape;191;p18"/>
          <p:cNvSpPr/>
          <p:nvPr/>
        </p:nvSpPr>
        <p:spPr>
          <a:xfrm>
            <a:off x="762000" y="476250"/>
            <a:ext cx="47625" cy="411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752725"/>
            <a:ext cx="5095875" cy="12781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752725"/>
            <a:ext cx="5095875" cy="12781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895975"/>
            <a:ext cx="10668000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 txBox="1"/>
          <p:nvPr/>
        </p:nvSpPr>
        <p:spPr>
          <a:xfrm>
            <a:off x="1090612" y="5991225"/>
            <a:ext cx="10196512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854D0E"/>
                </a:solidFill>
                <a:latin typeface="Poppins"/>
                <a:ea typeface="Poppins"/>
                <a:cs typeface="Poppins"/>
                <a:sym typeface="Poppins"/>
              </a:rPr>
              <a:t>READ OUT LOUD: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952500" y="6181725"/>
            <a:ext cx="10334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Hybrid systems mix both methods together. This is much more powerful. Netflix uses this mix.</a:t>
            </a:r>
            <a:endParaRPr/>
          </a:p>
        </p:txBody>
      </p:sp>
      <p:pic>
        <p:nvPicPr>
          <p:cNvPr descr="image.png" id="202" name="Google Shape;20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6019800"/>
            <a:ext cx="80962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1381125" y="3048000"/>
            <a:ext cx="4390548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Mixes Both Methods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1057275" y="3495675"/>
            <a:ext cx="450532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Combines product details and user habits for best accuracy.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6953250" y="3048000"/>
            <a:ext cx="4390548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Prevents Weakness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6629400" y="3495675"/>
            <a:ext cx="450532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Helps recommend things even if a user is completely new.</a:t>
            </a:r>
            <a:endParaRPr/>
          </a:p>
        </p:txBody>
      </p:sp>
      <p:pic>
        <p:nvPicPr>
          <p:cNvPr descr="image.png" id="207" name="Google Shape;20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310038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29400" y="310038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9"/>
          <p:cNvSpPr txBox="1"/>
          <p:nvPr/>
        </p:nvSpPr>
        <p:spPr>
          <a:xfrm>
            <a:off x="904875" y="476250"/>
            <a:ext cx="11051381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Type 3: Hybrid Systems</a:t>
            </a:r>
            <a:endParaRPr/>
          </a:p>
        </p:txBody>
      </p:sp>
      <p:sp>
        <p:nvSpPr>
          <p:cNvPr id="210" name="Google Shape;210;p19"/>
          <p:cNvSpPr/>
          <p:nvPr/>
        </p:nvSpPr>
        <p:spPr>
          <a:xfrm>
            <a:off x="762000" y="476250"/>
            <a:ext cx="47625" cy="411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63042"/>
            <a:ext cx="509587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895975"/>
            <a:ext cx="10668000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0"/>
          <p:cNvSpPr txBox="1"/>
          <p:nvPr/>
        </p:nvSpPr>
        <p:spPr>
          <a:xfrm>
            <a:off x="1090612" y="5991225"/>
            <a:ext cx="10196512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854D0E"/>
                </a:solidFill>
                <a:latin typeface="Poppins"/>
                <a:ea typeface="Poppins"/>
                <a:cs typeface="Poppins"/>
                <a:sym typeface="Poppins"/>
              </a:rPr>
              <a:t>READ OUT LOUD: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952500" y="6181725"/>
            <a:ext cx="10334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Amazon recommendations drive real sales. Spotify uses it to make custom weekly playlists.</a:t>
            </a:r>
            <a:endParaRPr/>
          </a:p>
        </p:txBody>
      </p:sp>
      <p:pic>
        <p:nvPicPr>
          <p:cNvPr descr="image.png" id="220" name="Google Shape;22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6019800"/>
            <a:ext cx="80962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43650" y="1972567"/>
            <a:ext cx="5076825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/>
          <p:cNvSpPr txBox="1"/>
          <p:nvPr/>
        </p:nvSpPr>
        <p:spPr>
          <a:xfrm>
            <a:off x="1143000" y="2761208"/>
            <a:ext cx="47148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Amazon: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Recommended products.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1143000" y="3245048"/>
            <a:ext cx="47148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YouTube: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Next video autoplay.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1143000" y="3728888"/>
            <a:ext cx="47148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Spotify: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Discover Weekly playlists.</a:t>
            </a:r>
            <a:endParaRPr/>
          </a:p>
        </p:txBody>
      </p:sp>
      <p:pic>
        <p:nvPicPr>
          <p:cNvPr descr="image.png" id="225" name="Google Shape;225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281359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3297435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3781276"/>
            <a:ext cx="2000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0"/>
          <p:cNvSpPr txBox="1"/>
          <p:nvPr/>
        </p:nvSpPr>
        <p:spPr>
          <a:xfrm>
            <a:off x="904875" y="476250"/>
            <a:ext cx="11051381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Real-World Applications</a:t>
            </a:r>
            <a:endParaRPr/>
          </a:p>
        </p:txBody>
      </p:sp>
      <p:sp>
        <p:nvSpPr>
          <p:cNvPr id="229" name="Google Shape;229;p20"/>
          <p:cNvSpPr/>
          <p:nvPr/>
        </p:nvSpPr>
        <p:spPr>
          <a:xfrm>
            <a:off x="762000" y="476250"/>
            <a:ext cx="47625" cy="411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63042"/>
            <a:ext cx="509587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895975"/>
            <a:ext cx="10668000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1"/>
          <p:cNvSpPr txBox="1"/>
          <p:nvPr/>
        </p:nvSpPr>
        <p:spPr>
          <a:xfrm>
            <a:off x="1090612" y="5991225"/>
            <a:ext cx="10196512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854D0E"/>
                </a:solidFill>
                <a:latin typeface="Poppins"/>
                <a:ea typeface="Poppins"/>
                <a:cs typeface="Poppins"/>
                <a:sym typeface="Poppins"/>
              </a:rPr>
              <a:t>READ OUT LOUD: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952500" y="6181725"/>
            <a:ext cx="10334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Recommendations save shopping time. They make users happy and boost shop sales.</a:t>
            </a:r>
            <a:endParaRPr/>
          </a:p>
        </p:txBody>
      </p:sp>
      <p:pic>
        <p:nvPicPr>
          <p:cNvPr descr="image.png" id="239" name="Google Shape;23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6019800"/>
            <a:ext cx="80962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43650" y="1972567"/>
            <a:ext cx="5076825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 txBox="1"/>
          <p:nvPr/>
        </p:nvSpPr>
        <p:spPr>
          <a:xfrm>
            <a:off x="1143000" y="2761208"/>
            <a:ext cx="47148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Saves shopping time.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1143000" y="3245048"/>
            <a:ext cx="47148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Feels personalized.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1143000" y="3728888"/>
            <a:ext cx="47148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Boosts shop sales.</a:t>
            </a:r>
            <a:endParaRPr/>
          </a:p>
        </p:txBody>
      </p:sp>
      <p:pic>
        <p:nvPicPr>
          <p:cNvPr descr="image.png" id="244" name="Google Shape;244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281359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329743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3781276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1"/>
          <p:cNvSpPr txBox="1"/>
          <p:nvPr/>
        </p:nvSpPr>
        <p:spPr>
          <a:xfrm>
            <a:off x="904875" y="476250"/>
            <a:ext cx="11051381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Advantages</a:t>
            </a:r>
            <a:endParaRPr/>
          </a:p>
        </p:txBody>
      </p:sp>
      <p:sp>
        <p:nvSpPr>
          <p:cNvPr id="248" name="Google Shape;248;p21"/>
          <p:cNvSpPr/>
          <p:nvPr/>
        </p:nvSpPr>
        <p:spPr>
          <a:xfrm>
            <a:off x="762000" y="476250"/>
            <a:ext cx="47625" cy="411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63042"/>
            <a:ext cx="509587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895975"/>
            <a:ext cx="10668000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2"/>
          <p:cNvSpPr txBox="1"/>
          <p:nvPr/>
        </p:nvSpPr>
        <p:spPr>
          <a:xfrm>
            <a:off x="1090612" y="5991225"/>
            <a:ext cx="10196512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854D0E"/>
                </a:solidFill>
                <a:latin typeface="Poppins"/>
                <a:ea typeface="Poppins"/>
                <a:cs typeface="Poppins"/>
                <a:sym typeface="Poppins"/>
              </a:rPr>
              <a:t>READ OUT LOUD: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952500" y="6181725"/>
            <a:ext cx="10334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New users are hard to recommend for. We must also protect personal user data.</a:t>
            </a:r>
            <a:endParaRPr/>
          </a:p>
        </p:txBody>
      </p:sp>
      <p:pic>
        <p:nvPicPr>
          <p:cNvPr descr="image.png" id="258" name="Google Shape;25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6019800"/>
            <a:ext cx="80962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43650" y="1972567"/>
            <a:ext cx="5076825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2"/>
          <p:cNvSpPr txBox="1"/>
          <p:nvPr/>
        </p:nvSpPr>
        <p:spPr>
          <a:xfrm>
            <a:off x="1143000" y="2761208"/>
            <a:ext cx="47148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Cold Start: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Hard for new users.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1143000" y="3245048"/>
            <a:ext cx="47148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Privacy: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Needs user data protection.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1143000" y="3728888"/>
            <a:ext cx="47148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Filter Bubble: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Shows same things.</a:t>
            </a:r>
            <a:endParaRPr/>
          </a:p>
        </p:txBody>
      </p:sp>
      <p:pic>
        <p:nvPicPr>
          <p:cNvPr descr="image.png" id="263" name="Google Shape;263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281359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329743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3781276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2"/>
          <p:cNvSpPr txBox="1"/>
          <p:nvPr/>
        </p:nvSpPr>
        <p:spPr>
          <a:xfrm>
            <a:off x="904875" y="476250"/>
            <a:ext cx="11051381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Challenges &amp; Limitations</a:t>
            </a:r>
            <a:endParaRPr/>
          </a:p>
        </p:txBody>
      </p:sp>
      <p:sp>
        <p:nvSpPr>
          <p:cNvPr id="267" name="Google Shape;267;p22"/>
          <p:cNvSpPr/>
          <p:nvPr/>
        </p:nvSpPr>
        <p:spPr>
          <a:xfrm>
            <a:off x="762000" y="476250"/>
            <a:ext cx="47625" cy="411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2" name="Google Shape;27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523333"/>
            <a:ext cx="10668000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3"/>
          <p:cNvSpPr txBox="1"/>
          <p:nvPr/>
        </p:nvSpPr>
        <p:spPr>
          <a:xfrm>
            <a:off x="1090612" y="4618583"/>
            <a:ext cx="10196512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854D0E"/>
                </a:solidFill>
                <a:latin typeface="Poppins"/>
                <a:ea typeface="Poppins"/>
                <a:cs typeface="Poppins"/>
                <a:sym typeface="Poppins"/>
              </a:rPr>
              <a:t>READ OUT LOUD: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952500" y="4809083"/>
            <a:ext cx="10334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In conclusion, these systems help buyers and sellers. Thank you for listening. Do you have questions?</a:t>
            </a:r>
            <a:endParaRPr/>
          </a:p>
        </p:txBody>
      </p:sp>
      <p:pic>
        <p:nvPicPr>
          <p:cNvPr descr="image.png" id="276" name="Google Shape;27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4647158"/>
            <a:ext cx="80962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3"/>
          <p:cNvSpPr txBox="1"/>
          <p:nvPr/>
        </p:nvSpPr>
        <p:spPr>
          <a:xfrm>
            <a:off x="4535805" y="1848742"/>
            <a:ext cx="3120390" cy="61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2524125" y="2751683"/>
            <a:ext cx="7143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"Recommendation systems make online shopping fast for users and successful for businesses."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5105400" y="3913733"/>
            <a:ext cx="19812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Any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